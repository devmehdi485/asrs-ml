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AÉRONAUTIQUE · PROJET A3 · NLP ·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1F5FB"/>
                </a:solidFill>
                <a:latin typeface="Calibri"/>
              </a:rPr>
              <a:t>Analyse NLP des rapports d'incidents
de sécurité aérienne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A8C0"/>
                </a:solidFill>
                <a:latin typeface="Calibri"/>
              </a:rPr>
              <a:t>NASA ASRS — extraction des causes, classification, signaux faibles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212080"/>
            <a:ext cx="2602153" cy="10972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3B82F6"/>
                </a:solidFill>
                <a:latin typeface="Calibri"/>
              </a:rPr>
              <a:t>125 763</a:t>
            </a:r>
          </a:p>
          <a:p>
            <a:pPr algn="ctr"/>
            <a:r>
              <a:rPr sz="1100">
                <a:solidFill>
                  <a:srgbClr val="9AA8C0"/>
                </a:solidFill>
              </a:rPr>
              <a:t>rapports analysés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9393" y="5212080"/>
            <a:ext cx="2602153" cy="10972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3B82F6"/>
                </a:solidFill>
                <a:latin typeface="Calibri"/>
              </a:rPr>
              <a:t>81</a:t>
            </a:r>
          </a:p>
          <a:p>
            <a:pPr algn="ctr"/>
            <a:r>
              <a:rPr sz="1100">
                <a:solidFill>
                  <a:srgbClr val="9AA8C0"/>
                </a:solidFill>
              </a:rPr>
              <a:t>thèmes détectés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7" y="5212080"/>
            <a:ext cx="2602153" cy="10972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3B82F6"/>
                </a:solidFill>
                <a:latin typeface="Calibri"/>
              </a:rPr>
              <a:t>11</a:t>
            </a:r>
          </a:p>
          <a:p>
            <a:pPr algn="ctr"/>
            <a:r>
              <a:rPr sz="1100">
                <a:solidFill>
                  <a:srgbClr val="9AA8C0"/>
                </a:solidFill>
              </a:rPr>
              <a:t>catégories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040901" y="5212080"/>
            <a:ext cx="2602153" cy="10972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3B82F6"/>
                </a:solidFill>
                <a:latin typeface="Calibri"/>
              </a:rPr>
              <a:t>2002–2025</a:t>
            </a:r>
          </a:p>
          <a:p>
            <a:pPr algn="ctr"/>
            <a:r>
              <a:rPr sz="1100">
                <a:solidFill>
                  <a:srgbClr val="9AA8C0"/>
                </a:solidFill>
              </a:rPr>
              <a:t>période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B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Des milliers de rapports d'incidents soumis volontairement à la NASA (ASRS) chaque année.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Chaque rapport = un récit en texte libre + métadonnées codées par des experts.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Une mine d'informations sur les risques systémiques… largement inexploitée par l'IA.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Problématique : faire parler automatiquement ces récits pour en extraire des causes,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9AA8C0"/>
                </a:solidFill>
                <a:latin typeface="Calibri"/>
              </a:rPr>
              <a:t>–  classifier les incidents et détecter des signaux faibles précurseurs d'accidents.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B"/>
                </a:solidFill>
                <a:latin typeface="Calibri"/>
              </a:rPr>
              <a:t>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Pipeline NLP complet : prétraitement → vectorisation → clustering.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Faire émerger des thèmes d'incidents cohérents et interprétables (non supervisé).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Classifier le type d'anomalie à partir du texte (supervisé).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Repérer les signaux faibles et analyser l'évolution temporelle.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Livrer un dashboard interactif de qualité professionnelle.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B"/>
                </a:solidFill>
                <a:latin typeface="Calibri"/>
              </a:rPr>
              <a:t>Données — NASA ASRS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125 763 rapports réels (2002–2025), accès libre.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Texte : Narratives Reporter 1 &amp; 2 + Synopsis (100 % remplis).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Cibles/métadonnées : Anomalie 99,7 % · Phase de vol 95,9 % · Aéronef 98,9 % · Date 100 %.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Particularité : double ligne d'en-tête gérée automatiquement au chargement.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120640"/>
            <a:ext cx="2602153" cy="10972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3B82F6"/>
                </a:solidFill>
                <a:latin typeface="Calibri"/>
              </a:rPr>
              <a:t>125 763</a:t>
            </a:r>
          </a:p>
          <a:p>
            <a:pPr algn="ctr"/>
            <a:r>
              <a:rPr sz="1100">
                <a:solidFill>
                  <a:srgbClr val="9AA8C0"/>
                </a:solidFill>
              </a:rPr>
              <a:t>rapports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79393" y="5120640"/>
            <a:ext cx="2602153" cy="10972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3B82F6"/>
                </a:solidFill>
                <a:latin typeface="Calibri"/>
              </a:rPr>
              <a:t>126</a:t>
            </a:r>
          </a:p>
          <a:p>
            <a:pPr algn="ctr"/>
            <a:r>
              <a:rPr sz="1100">
                <a:solidFill>
                  <a:srgbClr val="9AA8C0"/>
                </a:solidFill>
              </a:rPr>
              <a:t>variables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0147" y="5120640"/>
            <a:ext cx="2602153" cy="10972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3B82F6"/>
                </a:solidFill>
                <a:latin typeface="Calibri"/>
              </a:rPr>
              <a:t>100 %</a:t>
            </a:r>
          </a:p>
          <a:p>
            <a:pPr algn="ctr"/>
            <a:r>
              <a:rPr sz="1100">
                <a:solidFill>
                  <a:srgbClr val="9AA8C0"/>
                </a:solidFill>
              </a:rPr>
              <a:t>narratives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040901" y="5120640"/>
            <a:ext cx="2602153" cy="10972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3B82F6"/>
                </a:solidFill>
                <a:latin typeface="Calibri"/>
              </a:rPr>
              <a:t>99,7 %</a:t>
            </a:r>
          </a:p>
          <a:p>
            <a:pPr algn="ctr"/>
            <a:r>
              <a:rPr sz="1100">
                <a:solidFill>
                  <a:srgbClr val="9AA8C0"/>
                </a:solidFill>
              </a:rPr>
              <a:t>anomalie remplie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B"/>
                </a:solidFill>
                <a:latin typeface="Calibri"/>
              </a:rPr>
              <a:t>Méthodologie — pipeline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Prétraitement : nettoyage désid. (ZZZ), tokenisation, stopwords métier, lemmatisation.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Vectorisation : TF-IDF · word2vec (gensim) · embeddings de phrases (MiniLM).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Réduction UMAP → clustering K-Means vs HDBSCAN (+ garde-fou anti-effondrement).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Interprétation : c-TF-IDF, labels métier (11 catégories), LDA + cohérence c_v.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Classification supervisée (LogReg, SVM) · Signaux faibles (Isolation Forest) · Temporel.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B"/>
                </a:solidFill>
                <a:latin typeface="Calibri"/>
              </a:rPr>
              <a:t>Cartographie thématique — 81 thèmes, 11 catégories</a:t>
            </a:r>
          </a:p>
        </p:txBody>
      </p:sp>
      <p:pic>
        <p:nvPicPr>
          <p:cNvPr id="4" name="Picture 3" descr="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943600" cy="3060550"/>
          </a:xfrm>
          <a:prstGeom prst="rect">
            <a:avLst/>
          </a:prstGeom>
        </p:spPr>
      </p:pic>
      <p:pic>
        <p:nvPicPr>
          <p:cNvPr id="5" name="Picture 4" descr="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5486400" cy="39963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B"/>
                </a:solidFill>
                <a:latin typeface="Calibri"/>
              </a:rPr>
              <a:t>Cohérence des clusters — K-Means vs HDBSCAN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1F5FB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1F5FB"/>
                          </a:solidFill>
                          <a:latin typeface="Calibri"/>
                        </a:rPr>
                        <a:t>Clusters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1F5FB"/>
                          </a:solidFill>
                          <a:latin typeface="Calibri"/>
                        </a:rPr>
                        <a:t>Silhouette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1F5FB"/>
                          </a:solidFill>
                          <a:latin typeface="Calibri"/>
                        </a:rPr>
                        <a:t>Davies-B.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1F5FB"/>
                          </a:solidFill>
                          <a:latin typeface="Calibri"/>
                        </a:rPr>
                        <a:t>Bruit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1F5FB"/>
                          </a:solidFill>
                          <a:latin typeface="Calibri"/>
                        </a:rPr>
                        <a:t>Pureté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K-Means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0,382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0,945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0 %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0,133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HDBSCAN ✓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0,590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0,575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32 %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0,165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F1F5FB"/>
                </a:solidFill>
                <a:latin typeface="Calibri"/>
              </a:rPr>
              <a:t>•  HDBSCAN retenu : meilleure silhouette (0,590) et Davies-Bouldin plus faible.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1F5FB"/>
                </a:solidFill>
                <a:latin typeface="Calibri"/>
              </a:rPr>
              <a:t>•  Le bruit (32 %) est réutilisé pour la détection de signaux faibles.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1F5FB"/>
                </a:solidFill>
                <a:latin typeface="Calibri"/>
              </a:rPr>
              <a:t>•  Garde-fou : un HDBSCAN dégénéré (&lt; 6 clusters) est rejeté au profit de K-Means.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B"/>
                </a:solidFill>
                <a:latin typeface="Calibri"/>
              </a:rPr>
              <a:t>Nuages de mots par thème (c-TF-IDF)</a:t>
            </a:r>
          </a:p>
        </p:txBody>
      </p:sp>
      <p:pic>
        <p:nvPicPr>
          <p:cNvPr id="4" name="Picture 3" descr="wordclou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144000" cy="5564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B"/>
                </a:solidFill>
                <a:latin typeface="Calibri"/>
              </a:rPr>
              <a:t>Embeddings de mots (word2vec) — sémantique du domaine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801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1F5FB"/>
                          </a:solidFill>
                          <a:latin typeface="Calibri"/>
                        </a:rPr>
                        <a:t>Mot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1F5FB"/>
                          </a:solidFill>
                          <a:latin typeface="Calibri"/>
                        </a:rPr>
                        <a:t>Voisins les plus proches (similarité)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runway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rwy (0.84), taxiway (0.653), intersecting (0.59), midfield (0.586), parallel (0.582)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engine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eng (0.685), feathered (0.567), magneto (0.54), crossbleed (0.538), starter (0.526)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fuel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gas (0.686), gallon (0.601), fueled (0.6), lb (0.599), gph (0.593)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weather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thunderstorm (0.764), storm (0.737), bkn (0.676), forecast (0.66), ovc (0.651)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altitude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alt (0.704), descended (0.674), descend (0.645), level (0.643), descending (0.626)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gear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flap (0.619), slat (0.59), wheel (0.545), locked (0.523), strut (0.523)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937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0"/>
                </a:solidFill>
                <a:latin typeface="Calibri"/>
              </a:rPr>
              <a:t>word2vec capture une sémantique fine : runway≈rwy/taxiway, weather≈thunderstorm/storm…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B"/>
                </a:solidFill>
                <a:latin typeface="Calibri"/>
              </a:rPr>
              <a:t>Classification supervisée du type d'incident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7315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1F5FB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1F5FB"/>
                          </a:solidFill>
                          <a:latin typeface="Calibri"/>
                        </a:rPr>
                        <a:t>F1 macro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1F5FB"/>
                          </a:solidFill>
                          <a:latin typeface="Calibri"/>
                        </a:rPr>
                        <a:t>F1 pondéré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Régression logistique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0,518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0,606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SVM linéaire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0,517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B"/>
                          </a:solidFill>
                          <a:latin typeface="Calibri"/>
                        </a:rPr>
                        <a:t>0,615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576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F1F5FB"/>
                </a:solidFill>
                <a:latin typeface="Calibri"/>
              </a:rPr>
              <a:t>•  TF-IDF + top-8 anomalies les plus fréquentes.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1F5FB"/>
                </a:solidFill>
                <a:latin typeface="Calibri"/>
              </a:rPr>
              <a:t>•  Meilleures classes : ATC Issue (F1 0,76), NMAC (0,69), Equipment Critical (0,67).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F1F5FB"/>
                </a:solidFill>
                <a:latin typeface="Calibri"/>
              </a:rPr>
              <a:t>•  Difficultés : classes rares et anomalies multi-étiquettes.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B"/>
                </a:solidFill>
                <a:latin typeface="Calibri"/>
              </a:rPr>
              <a:t>Évolution temporelle des incidents</a:t>
            </a:r>
          </a:p>
        </p:txBody>
      </p:sp>
      <p:pic>
        <p:nvPicPr>
          <p:cNvPr id="4" name="Picture 3" descr="temporal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852160" cy="2287105"/>
          </a:xfrm>
          <a:prstGeom prst="rect">
            <a:avLst/>
          </a:prstGeom>
        </p:spPr>
      </p:pic>
      <p:pic>
        <p:nvPicPr>
          <p:cNvPr id="5" name="Picture 4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577840" cy="27843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B"/>
                </a:solidFill>
                <a:latin typeface="Calibri"/>
              </a:rPr>
              <a:t>Causes récurrentes &amp; signaux faibles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412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1F5FB"/>
                          </a:solidFill>
                          <a:latin typeface="Calibri"/>
                        </a:rPr>
                        <a:t>Thème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1F5FB"/>
                          </a:solidFill>
                          <a:latin typeface="Calibri"/>
                        </a:rPr>
                        <a:t>Rapports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1F5FB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1F5FB"/>
                          </a:solidFill>
                          <a:latin typeface="Calibri"/>
                        </a:rPr>
                        <a:t>Tendance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Pannes avioniques &amp; systèmes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22 258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26,2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baisse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Incursions &amp; erreurs au sol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8 458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10,0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hausse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Fumée / odeurs en cabine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3 393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4,0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hausse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Conflits de trafic (circuit)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2 657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3,1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hausse</a:t>
                      </a:r>
                    </a:p>
                  </a:txBody>
                  <a:tcPr>
                    <a:solidFill>
                      <a:srgbClr val="1622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Marchandises dangereuses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1 959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2,3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1F5FB"/>
                          </a:solidFill>
                          <a:latin typeface="Calibri"/>
                        </a:rPr>
                        <a:t>hausse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26880" y="17373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F1F5FB"/>
                </a:solidFill>
                <a:latin typeface="Calibri"/>
              </a:rPr>
              <a:t>•  2463 rapports atypiques (Isolation Forest).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1F5FB"/>
                </a:solidFill>
                <a:latin typeface="Calibri"/>
              </a:rPr>
              <a:t>•  En hausse : sol, fumées, drones, hazmat.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F1F5FB"/>
                </a:solidFill>
                <a:latin typeface="Calibri"/>
              </a:rPr>
              <a:t>•  → priorités d'un programme sécurité.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B"/>
                </a:solidFill>
                <a:latin typeface="Calibri"/>
              </a:rPr>
              <a:t>Dashboards interactifs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Streamlit (Python) — rapide, lit directement les artefacts.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AeroInsight AI (React + Tailwind) — 6 pages, design pro :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9AA8C0"/>
                </a:solidFill>
                <a:latin typeface="Calibri"/>
              </a:rPr>
              <a:t>–  Dashboard · Cluster Explorer (carte + filtres catégories) · Thematic Analysis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9AA8C0"/>
                </a:solidFill>
                <a:latin typeface="Calibri"/>
              </a:rPr>
              <a:t>–  Temporal Map · Weak Signals · Executive Intelligence (rapport auto)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Chaque thème : nom métier, description, nuage de mots, tendance.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120640"/>
            <a:ext cx="2602153" cy="10972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3B82F6"/>
                </a:solidFill>
                <a:latin typeface="Calibri"/>
              </a:rPr>
              <a:t>2</a:t>
            </a:r>
          </a:p>
          <a:p>
            <a:pPr algn="ctr"/>
            <a:r>
              <a:rPr sz="1100">
                <a:solidFill>
                  <a:srgbClr val="9AA8C0"/>
                </a:solidFill>
              </a:rPr>
              <a:t>dashboards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79393" y="5120640"/>
            <a:ext cx="2602153" cy="10972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3B82F6"/>
                </a:solidFill>
                <a:latin typeface="Calibri"/>
              </a:rPr>
              <a:t>6</a:t>
            </a:r>
          </a:p>
          <a:p>
            <a:pPr algn="ctr"/>
            <a:r>
              <a:rPr sz="1100">
                <a:solidFill>
                  <a:srgbClr val="9AA8C0"/>
                </a:solidFill>
              </a:rPr>
              <a:t>pages React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0147" y="5120640"/>
            <a:ext cx="2602153" cy="10972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3B82F6"/>
                </a:solidFill>
                <a:latin typeface="Calibri"/>
              </a:rPr>
              <a:t>81</a:t>
            </a:r>
          </a:p>
          <a:p>
            <a:pPr algn="ctr"/>
            <a:r>
              <a:rPr sz="1100">
                <a:solidFill>
                  <a:srgbClr val="9AA8C0"/>
                </a:solidFill>
              </a:rPr>
              <a:t>thèmes nommés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9040901" y="5120640"/>
            <a:ext cx="2602153" cy="1097280"/>
          </a:xfrm>
          <a:prstGeom prst="rect">
            <a:avLst/>
          </a:prstGeom>
          <a:solidFill>
            <a:srgbClr val="121A2E"/>
          </a:solidFill>
          <a:ln w="12700">
            <a:solidFill>
              <a:srgbClr val="24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3B82F6"/>
                </a:solidFill>
                <a:latin typeface="Calibri"/>
              </a:rPr>
              <a:t>11</a:t>
            </a:r>
          </a:p>
          <a:p>
            <a:pPr algn="ctr"/>
            <a:r>
              <a:rPr sz="1100">
                <a:solidFill>
                  <a:srgbClr val="9AA8C0"/>
                </a:solidFill>
              </a:rPr>
              <a:t>catégories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B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Pipeline NLP complet validé sur 125 763 rapports réels.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81 thèmes interprétables en 11 catégories métier.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Classification opérationnelle (F1 pondéré 0,615) + signaux faibles + temporel.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1F5FB"/>
                </a:solidFill>
                <a:latin typeface="Calibri"/>
              </a:rPr>
              <a:t>•  Deux dashboards transformant des récits bruts en intelligence de sécurité.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Calibri"/>
              </a:rPr>
              <a:t>github.com/devMehdi485/asrs-ml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